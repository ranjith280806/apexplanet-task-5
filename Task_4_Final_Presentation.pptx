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Total 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136883.21</c:v>
                </c:pt>
                <c:pt idx="1">
                  <c:v>141807.34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Data Storytelling &amp;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832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Task 4 • Sales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Transform the findings from Tasks 1–3 into a clear, business-focused story.</a:t>
            </a:r>
          </a:p>
          <a:p>
            <a:pPr>
              <a:spcAft>
                <a:spcPts val="1200"/>
              </a:spcAft>
              <a:defRPr sz="2000"/>
            </a:pPr>
            <a:r>
              <a:t>Understand sales performance across customers, products, categories, cities, gender, quantity, and time.</a:t>
            </a:r>
          </a:p>
          <a:p>
            <a:pPr>
              <a:spcAft>
                <a:spcPts val="1200"/>
              </a:spcAft>
              <a:defRPr sz="2000"/>
            </a:pPr>
            <a:r>
              <a:t>Statistically validate an important observed finding before turning it into a business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1,000 transaction records and 12 variables.</a:t>
            </a:r>
          </a:p>
          <a:p>
            <a:pPr>
              <a:spcAft>
                <a:spcPts val="1200"/>
              </a:spcAft>
              <a:defRPr sz="2000"/>
            </a:pPr>
            <a:r>
              <a:t>Core fields include Order Date, Customer, Age, Gender, City, Product, Category, Quantity, Unit Price, and Total Sales.</a:t>
            </a:r>
          </a:p>
          <a:p>
            <a:pPr>
              <a:spcAft>
                <a:spcPts val="1200"/>
              </a:spcAft>
              <a:defRPr sz="2000"/>
            </a:pPr>
            <a:r>
              <a:t>The cleaned dataset contains missing values in Age (20) and City (13); all other listed fields have no missing values.</a:t>
            </a:r>
          </a:p>
          <a:p>
            <a:pPr>
              <a:spcAft>
                <a:spcPts val="1200"/>
              </a:spcAft>
              <a:defRPr sz="2000"/>
            </a:pPr>
            <a:r>
              <a:t>Total Sales represents the order-level sales amount.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Analysis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Customer demographics: age distribution and gender patterns.</a:t>
            </a:r>
          </a:p>
          <a:p>
            <a:pPr>
              <a:spcAft>
                <a:spcPts val="1200"/>
              </a:spcAft>
              <a:defRPr sz="2000"/>
            </a:pPr>
            <a:r>
              <a:t>Product and category performance: revenue contribution and top products.</a:t>
            </a:r>
          </a:p>
          <a:p>
            <a:pPr>
              <a:spcAft>
                <a:spcPts val="1200"/>
              </a:spcAft>
              <a:defRPr sz="2000"/>
            </a:pPr>
            <a:r>
              <a:t>Geographic performance: sales across cities.</a:t>
            </a:r>
          </a:p>
          <a:p>
            <a:pPr>
              <a:spcAft>
                <a:spcPts val="1200"/>
              </a:spcAft>
              <a:defRPr sz="2000"/>
            </a:pPr>
            <a:r>
              <a:t>Time-based performance: monthly sales trends.</a:t>
            </a:r>
          </a:p>
          <a:p>
            <a:pPr>
              <a:spcAft>
                <a:spcPts val="1200"/>
              </a:spcAft>
              <a:defRPr sz="2000"/>
            </a:pPr>
            <a:r>
              <a:t>Transaction behavior: quantity versus total sales.</a:t>
            </a:r>
          </a:p>
          <a:p>
            <a:pPr>
              <a:spcAft>
                <a:spcPts val="1200"/>
              </a:spcAft>
              <a:defRPr sz="2000"/>
            </a:pPr>
            <a:r>
              <a:t>Correlation analysis: relationships among numerical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Selected for Statistical Validation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41732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Observed pattern</a:t>
            </a:r>
          </a:p>
          <a:p>
            <a:pPr>
              <a:spcAft>
                <a:spcPts val="1200"/>
              </a:spcAft>
              <a:defRPr sz="1800"/>
            </a:pPr>
            <a:r>
              <a:t>Male average order sales: ₹141,807.34</a:t>
            </a:r>
          </a:p>
          <a:p>
            <a:pPr>
              <a:spcAft>
                <a:spcPts val="1200"/>
              </a:spcAft>
              <a:defRPr sz="1800"/>
            </a:pPr>
            <a:r>
              <a:t>Female average order sales: ₹136,883.21</a:t>
            </a:r>
          </a:p>
          <a:p>
            <a:pPr>
              <a:spcAft>
                <a:spcPts val="1200"/>
              </a:spcAft>
              <a:defRPr sz="1800"/>
            </a:pPr>
            <a:r>
              <a:t>Observed difference: ₹4,924.13</a:t>
            </a:r>
          </a:p>
          <a:p>
            <a:pPr>
              <a:spcAft>
                <a:spcPts val="1200"/>
              </a:spcAft>
              <a:defRPr sz="1800"/>
            </a:pPr>
            <a:r>
              <a:t>An observed difference does not automatically imply a meaningful business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Question &amp;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Business question: Do male and female customers have significantly different average Total Sales per order?</a:t>
            </a:r>
          </a:p>
          <a:p>
            <a:pPr>
              <a:spcAft>
                <a:spcPts val="1200"/>
              </a:spcAft>
              <a:defRPr sz="1900"/>
            </a:pPr>
            <a:r>
              <a:t>H₀: There is no significant difference in average Total Sales between male and female customers.</a:t>
            </a:r>
          </a:p>
          <a:p>
            <a:pPr>
              <a:spcAft>
                <a:spcPts val="1200"/>
              </a:spcAft>
              <a:defRPr sz="1900"/>
            </a:pPr>
            <a:r>
              <a:t>H₁: There is a significant difference in average Total Sales between male and female customers.</a:t>
            </a:r>
          </a:p>
          <a:p>
            <a:pPr>
              <a:spcAft>
                <a:spcPts val="1200"/>
              </a:spcAft>
              <a:defRPr sz="1900"/>
            </a:pPr>
            <a:r>
              <a:t>Significance level: α = 0.05.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Statistical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Test used: Welch's independent two-sample t-test.</a:t>
            </a:r>
          </a:p>
          <a:p>
            <a:pPr>
              <a:spcAft>
                <a:spcPts val="1200"/>
              </a:spcAft>
              <a:defRPr sz="2000"/>
            </a:pPr>
            <a:r>
              <a:t>The test compares the average Total Sales of two independent groups: Male and Female.</a:t>
            </a:r>
          </a:p>
          <a:p>
            <a:pPr>
              <a:spcAft>
                <a:spcPts val="1200"/>
              </a:spcAft>
              <a:defRPr sz="2000"/>
            </a:pPr>
            <a:r>
              <a:t>Welch's approach does not require the two groups to have equal variances.</a:t>
            </a:r>
          </a:p>
          <a:p>
            <a:pPr>
              <a:spcAft>
                <a:spcPts val="1200"/>
              </a:spcAft>
              <a:defRPr sz="2000"/>
            </a:pPr>
            <a:r>
              <a:t>Decision rule: reject H₀ when p-value &lt; 0.05.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Statistical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325880"/>
          <a:ext cx="8412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84048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Male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511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Female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489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T-statistic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0.6826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0.495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95% Confidence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−₹9,231.58 to ₹19,079.85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Fail to Reject H₀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the Statistics Tell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p-value = 0.495, which is greater than 0.05.</a:t>
            </a:r>
          </a:p>
          <a:p>
            <a:pPr>
              <a:spcAft>
                <a:spcPts val="1200"/>
              </a:spcAft>
              <a:defRPr sz="2000"/>
            </a:pPr>
            <a:r>
              <a:t>Therefore, we fail to reject the null hypothesis.</a:t>
            </a:r>
          </a:p>
          <a:p>
            <a:pPr>
              <a:spcAft>
                <a:spcPts val="1200"/>
              </a:spcAft>
              <a:defRPr sz="2000"/>
            </a:pPr>
            <a:r>
              <a:t>The 95% confidence interval for the mean difference includes zero.</a:t>
            </a:r>
          </a:p>
          <a:p>
            <a:pPr>
              <a:spcAft>
                <a:spcPts val="1200"/>
              </a:spcAft>
              <a:defRPr sz="2000"/>
            </a:pPr>
            <a:r>
              <a:t>The observed ₹4,924.13 difference is not statistically significant at the 5% 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Male customers show a slightly higher sample average order sales value.</a:t>
            </a:r>
          </a:p>
          <a:p>
            <a:pPr>
              <a:spcAft>
                <a:spcPts val="1200"/>
              </a:spcAft>
              <a:defRPr sz="2000"/>
            </a:pPr>
            <a:r>
              <a:t>However, the statistical evidence is insufficient to conclude that gender is associated with different average order sales.</a:t>
            </a:r>
          </a:p>
          <a:p>
            <a:pPr>
              <a:spcAft>
                <a:spcPts val="1200"/>
              </a:spcAft>
              <a:defRPr sz="2000"/>
            </a:pPr>
            <a:r>
              <a:t>Gender alone should therefore not be used as a statistically supported explanation for sales differences.</a:t>
            </a:r>
          </a:p>
          <a:p>
            <a:pPr>
              <a:spcAft>
                <a:spcPts val="1200"/>
              </a:spcAft>
              <a:defRPr sz="2000"/>
            </a:pPr>
            <a:r>
              <a:t>This prevents the business from over-interpreting a simple descriptive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Avoid gender-based assumptions when designing sales strategies.</a:t>
            </a:r>
          </a:p>
          <a:p>
            <a:pPr>
              <a:spcAft>
                <a:spcPts val="1200"/>
              </a:spcAft>
              <a:defRPr sz="2000"/>
            </a:pPr>
            <a:r>
              <a:t>Focus on high-performing products and categories to identify revenue drivers.</a:t>
            </a:r>
          </a:p>
          <a:p>
            <a:pPr>
              <a:spcAft>
                <a:spcPts val="1200"/>
              </a:spcAft>
              <a:defRPr sz="2000"/>
            </a:pPr>
            <a:r>
              <a:t>Investigate geographic differences to identify stronger and weaker locations.</a:t>
            </a:r>
          </a:p>
          <a:p>
            <a:pPr>
              <a:spcAft>
                <a:spcPts val="1200"/>
              </a:spcAft>
              <a:defRPr sz="2000"/>
            </a:pPr>
            <a:r>
              <a:t>Monitor monthly sales patterns for planning and demand management.</a:t>
            </a:r>
          </a:p>
          <a:p>
            <a:pPr>
              <a:spcAft>
                <a:spcPts val="1200"/>
              </a:spcAft>
              <a:defRPr sz="2000"/>
            </a:pPr>
            <a:r>
              <a:t>Combine multiple customer and transaction characteristics for more useful segmentation.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analysis combined exploratory findings with statistical validation.</a:t>
            </a:r>
          </a:p>
          <a:p>
            <a:pPr>
              <a:spcAft>
                <a:spcPts val="1200"/>
              </a:spcAft>
              <a:defRPr sz="1800"/>
            </a:pPr>
            <a:r>
              <a:t>Male average order sales were ₹141,807.34 versus ₹136,883.21 for females.</a:t>
            </a:r>
          </a:p>
          <a:p>
            <a:pPr>
              <a:spcAft>
                <a:spcPts val="1200"/>
              </a:spcAft>
              <a:defRPr sz="1800"/>
            </a:pPr>
            <a:r>
              <a:t>The Welch t-test produced p = 0.495, so the observed difference is not statistically significant.</a:t>
            </a:r>
          </a:p>
          <a:p>
            <a:pPr>
              <a:spcAft>
                <a:spcPts val="1200"/>
              </a:spcAft>
              <a:defRPr sz="1800"/>
            </a:pPr>
            <a:r>
              <a:t>The evidence does not support treating gender alone as a meaningful explanation for average order sales.</a:t>
            </a:r>
          </a:p>
          <a:p>
            <a:pPr>
              <a:spcAft>
                <a:spcPts val="1200"/>
              </a:spcAft>
              <a:defRPr sz="1800"/>
            </a:pPr>
            <a:r>
              <a:t>Next step: use product, category, city, quantity, customer, and time-based insights to identify stronger sales drivers.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Use statistically validated insights—not just visible differences—to guide decisions.</a:t>
            </a:r>
          </a:p>
          <a:p>
            <a:pPr>
              <a:spcAft>
                <a:spcPts val="1200"/>
              </a:spcAft>
              <a:defRPr sz="2100"/>
            </a:pPr>
            <a:r>
              <a:t>Prioritize deeper analysis of the strongest product, category, city, and time-based patterns from Tasks 1–3.</a:t>
            </a:r>
          </a:p>
          <a:p>
            <a:pPr>
              <a:spcAft>
                <a:spcPts val="1200"/>
              </a:spcAft>
              <a:defRPr sz="2100"/>
            </a:pPr>
            <a:r>
              <a:t>Build future sales strategies around evidence-supported customer and transaction segments.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